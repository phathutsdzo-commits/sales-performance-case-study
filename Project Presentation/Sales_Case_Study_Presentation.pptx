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296" y="-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B2A4A"/>
                </a:solidFill>
                <a:latin typeface="Calibri"/>
              </a:rPr>
              <a:t>Average Unit Sales Price by Month (Rand)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Monthly Unit Price (R)</c:v>
                </c:pt>
              </c:strCache>
            </c:strRef>
          </c:tx>
          <c:spPr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2013-12</c:v>
                </c:pt>
                <c:pt idx="1">
                  <c:v>2014-01</c:v>
                </c:pt>
                <c:pt idx="2">
                  <c:v>2014-02</c:v>
                </c:pt>
                <c:pt idx="3">
                  <c:v>2014-03</c:v>
                </c:pt>
                <c:pt idx="4">
                  <c:v>2014-04</c:v>
                </c:pt>
                <c:pt idx="5">
                  <c:v>2014-05</c:v>
                </c:pt>
                <c:pt idx="6">
                  <c:v>2014-06</c:v>
                </c:pt>
                <c:pt idx="7">
                  <c:v>2014-07</c:v>
                </c:pt>
                <c:pt idx="8">
                  <c:v>2014-08</c:v>
                </c:pt>
                <c:pt idx="9">
                  <c:v>2014-09</c:v>
                </c:pt>
                <c:pt idx="10">
                  <c:v>2014-10</c:v>
                </c:pt>
                <c:pt idx="11">
                  <c:v>2014-11</c:v>
                </c:pt>
                <c:pt idx="12">
                  <c:v>2014-12</c:v>
                </c:pt>
                <c:pt idx="13">
                  <c:v>2015-01</c:v>
                </c:pt>
                <c:pt idx="14">
                  <c:v>2015-02</c:v>
                </c:pt>
                <c:pt idx="15">
                  <c:v>2015-03</c:v>
                </c:pt>
                <c:pt idx="16">
                  <c:v>2015-04</c:v>
                </c:pt>
                <c:pt idx="17">
                  <c:v>2015-05</c:v>
                </c:pt>
                <c:pt idx="18">
                  <c:v>2015-06</c:v>
                </c:pt>
                <c:pt idx="19">
                  <c:v>2015-07</c:v>
                </c:pt>
                <c:pt idx="20">
                  <c:v>2015-08</c:v>
                </c:pt>
                <c:pt idx="21">
                  <c:v>2015-09</c:v>
                </c:pt>
                <c:pt idx="22">
                  <c:v>2015-10</c:v>
                </c:pt>
                <c:pt idx="23">
                  <c:v>2015-11</c:v>
                </c:pt>
                <c:pt idx="24">
                  <c:v>2015-12</c:v>
                </c:pt>
                <c:pt idx="25">
                  <c:v>2016-01</c:v>
                </c:pt>
                <c:pt idx="26">
                  <c:v>2016-02</c:v>
                </c:pt>
                <c:pt idx="27">
                  <c:v>2016-03</c:v>
                </c:pt>
                <c:pt idx="28">
                  <c:v>2016-04</c:v>
                </c:pt>
                <c:pt idx="29">
                  <c:v>2016-05</c:v>
                </c:pt>
                <c:pt idx="30">
                  <c:v>2016-06</c:v>
                </c:pt>
                <c:pt idx="31">
                  <c:v>2016-07</c:v>
                </c:pt>
                <c:pt idx="32">
                  <c:v>2016-08</c:v>
                </c:pt>
                <c:pt idx="33">
                  <c:v>2016-09</c:v>
                </c:pt>
                <c:pt idx="34">
                  <c:v>2016-10</c:v>
                </c:pt>
                <c:pt idx="35">
                  <c:v>2016-11</c:v>
                </c:pt>
              </c:strCache>
            </c: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32.6</c:v>
                </c:pt>
                <c:pt idx="1">
                  <c:v>33.74</c:v>
                </c:pt>
                <c:pt idx="2">
                  <c:v>32.770000000000003</c:v>
                </c:pt>
                <c:pt idx="3">
                  <c:v>33.28</c:v>
                </c:pt>
                <c:pt idx="4">
                  <c:v>34.06</c:v>
                </c:pt>
                <c:pt idx="5">
                  <c:v>33.119999999999997</c:v>
                </c:pt>
                <c:pt idx="6">
                  <c:v>32.950000000000003</c:v>
                </c:pt>
                <c:pt idx="7">
                  <c:v>34.200000000000003</c:v>
                </c:pt>
                <c:pt idx="8">
                  <c:v>32.49</c:v>
                </c:pt>
                <c:pt idx="9">
                  <c:v>33.28</c:v>
                </c:pt>
                <c:pt idx="10">
                  <c:v>35.909999999999997</c:v>
                </c:pt>
                <c:pt idx="11">
                  <c:v>39.26</c:v>
                </c:pt>
                <c:pt idx="12">
                  <c:v>39.700000000000003</c:v>
                </c:pt>
                <c:pt idx="13">
                  <c:v>40.67</c:v>
                </c:pt>
                <c:pt idx="14">
                  <c:v>38.92</c:v>
                </c:pt>
                <c:pt idx="15">
                  <c:v>39.51</c:v>
                </c:pt>
                <c:pt idx="16">
                  <c:v>39.979999999999997</c:v>
                </c:pt>
                <c:pt idx="17">
                  <c:v>38.119999999999997</c:v>
                </c:pt>
                <c:pt idx="18">
                  <c:v>40.04</c:v>
                </c:pt>
                <c:pt idx="19">
                  <c:v>38.74</c:v>
                </c:pt>
                <c:pt idx="20">
                  <c:v>37.58</c:v>
                </c:pt>
                <c:pt idx="21">
                  <c:v>36.450000000000003</c:v>
                </c:pt>
                <c:pt idx="22">
                  <c:v>37.4</c:v>
                </c:pt>
                <c:pt idx="23">
                  <c:v>35.61</c:v>
                </c:pt>
                <c:pt idx="24">
                  <c:v>36.92</c:v>
                </c:pt>
                <c:pt idx="25">
                  <c:v>37.6</c:v>
                </c:pt>
                <c:pt idx="26">
                  <c:v>38.49</c:v>
                </c:pt>
                <c:pt idx="27">
                  <c:v>40.340000000000003</c:v>
                </c:pt>
                <c:pt idx="28">
                  <c:v>35.57</c:v>
                </c:pt>
                <c:pt idx="29">
                  <c:v>38.04</c:v>
                </c:pt>
                <c:pt idx="30">
                  <c:v>34.83</c:v>
                </c:pt>
                <c:pt idx="31">
                  <c:v>40.380000000000003</c:v>
                </c:pt>
                <c:pt idx="32">
                  <c:v>36.880000000000003</c:v>
                </c:pt>
                <c:pt idx="33">
                  <c:v>38.89</c:v>
                </c:pt>
                <c:pt idx="34">
                  <c:v>41.63</c:v>
                </c:pt>
                <c:pt idx="35">
                  <c:v>42.98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4866432"/>
        <c:axId val="134867968"/>
      </c:lineChart>
      <c:catAx>
        <c:axId val="1348664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8EF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134867968"/>
        <c:crosses val="autoZero"/>
        <c:auto val="1"/>
        <c:lblAlgn val="ctr"/>
        <c:lblOffset val="100"/>
        <c:noMultiLvlLbl val="1"/>
      </c:catAx>
      <c:valAx>
        <c:axId val="134867968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134866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B2A4A"/>
                </a:solidFill>
                <a:latin typeface="Calibri"/>
              </a:rPr>
              <a:t>Average Gross Profit % by Month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Monthly Gross Profit %</c:v>
                </c:pt>
              </c:strCache>
            </c:strRef>
          </c:tx>
          <c:spPr>
            <a:solidFill>
              <a:srgbClr val="3E8E6E"/>
            </a:solidFill>
            <a:effectLst/>
          </c:spPr>
          <c:invertIfNegative val="0"/>
          <c:cat>
            <c:strRef>
              <c:f>Sheet1!$A$2:$A$37</c:f>
              <c:strCache>
                <c:ptCount val="36"/>
                <c:pt idx="0">
                  <c:v>2013-12</c:v>
                </c:pt>
                <c:pt idx="1">
                  <c:v>2014-01</c:v>
                </c:pt>
                <c:pt idx="2">
                  <c:v>2014-02</c:v>
                </c:pt>
                <c:pt idx="3">
                  <c:v>2014-03</c:v>
                </c:pt>
                <c:pt idx="4">
                  <c:v>2014-04</c:v>
                </c:pt>
                <c:pt idx="5">
                  <c:v>2014-05</c:v>
                </c:pt>
                <c:pt idx="6">
                  <c:v>2014-06</c:v>
                </c:pt>
                <c:pt idx="7">
                  <c:v>2014-07</c:v>
                </c:pt>
                <c:pt idx="8">
                  <c:v>2014-08</c:v>
                </c:pt>
                <c:pt idx="9">
                  <c:v>2014-09</c:v>
                </c:pt>
                <c:pt idx="10">
                  <c:v>2014-10</c:v>
                </c:pt>
                <c:pt idx="11">
                  <c:v>2014-11</c:v>
                </c:pt>
                <c:pt idx="12">
                  <c:v>2014-12</c:v>
                </c:pt>
                <c:pt idx="13">
                  <c:v>2015-01</c:v>
                </c:pt>
                <c:pt idx="14">
                  <c:v>2015-02</c:v>
                </c:pt>
                <c:pt idx="15">
                  <c:v>2015-03</c:v>
                </c:pt>
                <c:pt idx="16">
                  <c:v>2015-04</c:v>
                </c:pt>
                <c:pt idx="17">
                  <c:v>2015-05</c:v>
                </c:pt>
                <c:pt idx="18">
                  <c:v>2015-06</c:v>
                </c:pt>
                <c:pt idx="19">
                  <c:v>2015-07</c:v>
                </c:pt>
                <c:pt idx="20">
                  <c:v>2015-08</c:v>
                </c:pt>
                <c:pt idx="21">
                  <c:v>2015-09</c:v>
                </c:pt>
                <c:pt idx="22">
                  <c:v>2015-10</c:v>
                </c:pt>
                <c:pt idx="23">
                  <c:v>2015-11</c:v>
                </c:pt>
                <c:pt idx="24">
                  <c:v>2015-12</c:v>
                </c:pt>
                <c:pt idx="25">
                  <c:v>2016-01</c:v>
                </c:pt>
                <c:pt idx="26">
                  <c:v>2016-02</c:v>
                </c:pt>
                <c:pt idx="27">
                  <c:v>2016-03</c:v>
                </c:pt>
                <c:pt idx="28">
                  <c:v>2016-04</c:v>
                </c:pt>
                <c:pt idx="29">
                  <c:v>2016-05</c:v>
                </c:pt>
                <c:pt idx="30">
                  <c:v>2016-06</c:v>
                </c:pt>
                <c:pt idx="31">
                  <c:v>2016-07</c:v>
                </c:pt>
                <c:pt idx="32">
                  <c:v>2016-08</c:v>
                </c:pt>
                <c:pt idx="33">
                  <c:v>2016-09</c:v>
                </c:pt>
                <c:pt idx="34">
                  <c:v>2016-10</c:v>
                </c:pt>
                <c:pt idx="35">
                  <c:v>2016-11</c:v>
                </c:pt>
              </c:strCache>
            </c: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-2.48</c:v>
                </c:pt>
                <c:pt idx="1">
                  <c:v>1.01</c:v>
                </c:pt>
                <c:pt idx="2">
                  <c:v>-1.55</c:v>
                </c:pt>
                <c:pt idx="3">
                  <c:v>-0.32</c:v>
                </c:pt>
                <c:pt idx="4">
                  <c:v>-0.06</c:v>
                </c:pt>
                <c:pt idx="5">
                  <c:v>-3.3</c:v>
                </c:pt>
                <c:pt idx="6">
                  <c:v>-1.79</c:v>
                </c:pt>
                <c:pt idx="7">
                  <c:v>0.41</c:v>
                </c:pt>
                <c:pt idx="8">
                  <c:v>-4.3099999999999996</c:v>
                </c:pt>
                <c:pt idx="9">
                  <c:v>-3.87</c:v>
                </c:pt>
                <c:pt idx="10">
                  <c:v>1.43</c:v>
                </c:pt>
                <c:pt idx="11">
                  <c:v>5.95</c:v>
                </c:pt>
                <c:pt idx="12">
                  <c:v>-4.3499999999999996</c:v>
                </c:pt>
                <c:pt idx="13">
                  <c:v>-3.28</c:v>
                </c:pt>
                <c:pt idx="14">
                  <c:v>-4.1500000000000004</c:v>
                </c:pt>
                <c:pt idx="15">
                  <c:v>-3.84</c:v>
                </c:pt>
                <c:pt idx="16">
                  <c:v>-2.44</c:v>
                </c:pt>
                <c:pt idx="17">
                  <c:v>-6.68</c:v>
                </c:pt>
                <c:pt idx="18">
                  <c:v>-1.21</c:v>
                </c:pt>
                <c:pt idx="19">
                  <c:v>-3.42</c:v>
                </c:pt>
                <c:pt idx="20">
                  <c:v>-5</c:v>
                </c:pt>
                <c:pt idx="21">
                  <c:v>-2.5499999999999998</c:v>
                </c:pt>
                <c:pt idx="22">
                  <c:v>-2.67</c:v>
                </c:pt>
                <c:pt idx="23">
                  <c:v>-8.1199999999999992</c:v>
                </c:pt>
                <c:pt idx="24">
                  <c:v>-3.82</c:v>
                </c:pt>
                <c:pt idx="25">
                  <c:v>-1.35</c:v>
                </c:pt>
                <c:pt idx="26">
                  <c:v>3.51</c:v>
                </c:pt>
                <c:pt idx="27">
                  <c:v>2.1800000000000002</c:v>
                </c:pt>
                <c:pt idx="28">
                  <c:v>-6.32</c:v>
                </c:pt>
                <c:pt idx="29">
                  <c:v>3.09</c:v>
                </c:pt>
                <c:pt idx="30">
                  <c:v>-4.5599999999999996</c:v>
                </c:pt>
                <c:pt idx="31">
                  <c:v>9.99</c:v>
                </c:pt>
                <c:pt idx="32">
                  <c:v>0.88</c:v>
                </c:pt>
                <c:pt idx="33">
                  <c:v>6.52</c:v>
                </c:pt>
                <c:pt idx="34">
                  <c:v>9.94</c:v>
                </c:pt>
                <c:pt idx="35">
                  <c:v>6.88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8920320"/>
        <c:axId val="138921856"/>
      </c:barChart>
      <c:catAx>
        <c:axId val="1389203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8EF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138921856"/>
        <c:crosses val="autoZero"/>
        <c:auto val="1"/>
        <c:lblAlgn val="ctr"/>
        <c:lblOffset val="100"/>
        <c:noMultiLvlLbl val="1"/>
      </c:catAx>
      <c:valAx>
        <c:axId val="138921856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ZA" sz="1000" b="0" i="0" u="none" strike="noStrike">
                    <a:solidFill>
                      <a:srgbClr val="000000"/>
                    </a:solidFill>
                    <a:latin typeface="Arial"/>
                  </a:rPr>
                  <a:t>Gross Profit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138920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lang="en-US" sz="1150" b="0" i="0" u="none" strike="noStrike">
                <a:solidFill>
                  <a:srgbClr val="1B2A4A"/>
                </a:solidFill>
                <a:latin typeface="Calibri"/>
              </a:rPr>
              <a:t>Volume vs. Price: Promo vs. Full Price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Promotion</c:v>
                </c:pt>
              </c:strCache>
            </c:strRef>
          </c:tx>
          <c:spPr>
            <a:solidFill>
              <a:srgbClr val="6B76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Avg Daily Units</c:v>
                </c:pt>
                <c:pt idx="1">
                  <c:v>Avg Unit Price (R)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4568</c:v>
                </c:pt>
                <c:pt idx="1">
                  <c:v>37.36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Promotion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Avg Daily Units</c:v>
                </c:pt>
                <c:pt idx="1">
                  <c:v>Avg Unit Price (R)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6339</c:v>
                </c:pt>
                <c:pt idx="1">
                  <c:v>36.229999999999997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37315456"/>
        <c:axId val="137316992"/>
      </c:barChart>
      <c:catAx>
        <c:axId val="1373154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8E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137316992"/>
        <c:crosses val="autoZero"/>
        <c:auto val="1"/>
        <c:lblAlgn val="ctr"/>
        <c:lblOffset val="100"/>
        <c:noMultiLvlLbl val="1"/>
      </c:catAx>
      <c:valAx>
        <c:axId val="13731699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137315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B2A4A"/>
                </a:solidFill>
                <a:latin typeface="Calibri"/>
              </a:rPr>
              <a:t>Average Daily Units Sold by Day of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Units Sold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0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4400</c:v>
                </c:pt>
                <c:pt idx="1">
                  <c:v>3852</c:v>
                </c:pt>
                <c:pt idx="2">
                  <c:v>4106</c:v>
                </c:pt>
                <c:pt idx="3">
                  <c:v>3969</c:v>
                </c:pt>
                <c:pt idx="4">
                  <c:v>6955</c:v>
                </c:pt>
                <c:pt idx="5">
                  <c:v>7937</c:v>
                </c:pt>
                <c:pt idx="6">
                  <c:v>3897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137385088"/>
        <c:axId val="137386624"/>
      </c:barChart>
      <c:catAx>
        <c:axId val="137385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8E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137386624"/>
        <c:crosses val="autoZero"/>
        <c:auto val="1"/>
        <c:lblAlgn val="ctr"/>
        <c:lblOffset val="100"/>
        <c:noMultiLvlLbl val="1"/>
      </c:catAx>
      <c:valAx>
        <c:axId val="13738662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137385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Unit Price (R)</c:v>
                </c:pt>
              </c:strCache>
            </c:strRef>
          </c:tx>
          <c:spPr>
            <a:solidFill>
              <a:srgbClr val="CFE3EE"/>
            </a:solidFill>
            <a:effectLst/>
          </c:spPr>
          <c:invertIfNegative val="0"/>
          <c:cat>
            <c:strRef>
              <c:f>Sheet1!$A$2:$A$37</c:f>
              <c:strCache>
                <c:ptCount val="36"/>
                <c:pt idx="0">
                  <c:v>2013-12</c:v>
                </c:pt>
                <c:pt idx="1">
                  <c:v>2014-01</c:v>
                </c:pt>
                <c:pt idx="2">
                  <c:v>2014-02</c:v>
                </c:pt>
                <c:pt idx="3">
                  <c:v>2014-03</c:v>
                </c:pt>
                <c:pt idx="4">
                  <c:v>2014-04</c:v>
                </c:pt>
                <c:pt idx="5">
                  <c:v>2014-05</c:v>
                </c:pt>
                <c:pt idx="6">
                  <c:v>2014-06</c:v>
                </c:pt>
                <c:pt idx="7">
                  <c:v>2014-07</c:v>
                </c:pt>
                <c:pt idx="8">
                  <c:v>2014-08</c:v>
                </c:pt>
                <c:pt idx="9">
                  <c:v>2014-09</c:v>
                </c:pt>
                <c:pt idx="10">
                  <c:v>2014-10</c:v>
                </c:pt>
                <c:pt idx="11">
                  <c:v>2014-11</c:v>
                </c:pt>
                <c:pt idx="12">
                  <c:v>2014-12</c:v>
                </c:pt>
                <c:pt idx="13">
                  <c:v>2015-01</c:v>
                </c:pt>
                <c:pt idx="14">
                  <c:v>2015-02</c:v>
                </c:pt>
                <c:pt idx="15">
                  <c:v>2015-03</c:v>
                </c:pt>
                <c:pt idx="16">
                  <c:v>2015-04</c:v>
                </c:pt>
                <c:pt idx="17">
                  <c:v>2015-05</c:v>
                </c:pt>
                <c:pt idx="18">
                  <c:v>2015-06</c:v>
                </c:pt>
                <c:pt idx="19">
                  <c:v>2015-07</c:v>
                </c:pt>
                <c:pt idx="20">
                  <c:v>2015-08</c:v>
                </c:pt>
                <c:pt idx="21">
                  <c:v>2015-09</c:v>
                </c:pt>
                <c:pt idx="22">
                  <c:v>2015-10</c:v>
                </c:pt>
                <c:pt idx="23">
                  <c:v>2015-11</c:v>
                </c:pt>
                <c:pt idx="24">
                  <c:v>2015-12</c:v>
                </c:pt>
                <c:pt idx="25">
                  <c:v>2016-01</c:v>
                </c:pt>
                <c:pt idx="26">
                  <c:v>2016-02</c:v>
                </c:pt>
                <c:pt idx="27">
                  <c:v>2016-03</c:v>
                </c:pt>
                <c:pt idx="28">
                  <c:v>2016-04</c:v>
                </c:pt>
                <c:pt idx="29">
                  <c:v>2016-05</c:v>
                </c:pt>
                <c:pt idx="30">
                  <c:v>2016-06</c:v>
                </c:pt>
                <c:pt idx="31">
                  <c:v>2016-07</c:v>
                </c:pt>
                <c:pt idx="32">
                  <c:v>2016-08</c:v>
                </c:pt>
                <c:pt idx="33">
                  <c:v>2016-09</c:v>
                </c:pt>
                <c:pt idx="34">
                  <c:v>2016-10</c:v>
                </c:pt>
                <c:pt idx="35">
                  <c:v>2016-11</c:v>
                </c:pt>
              </c:strCache>
            </c: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32.6</c:v>
                </c:pt>
                <c:pt idx="1">
                  <c:v>33.74</c:v>
                </c:pt>
                <c:pt idx="2">
                  <c:v>32.770000000000003</c:v>
                </c:pt>
                <c:pt idx="3">
                  <c:v>33.28</c:v>
                </c:pt>
                <c:pt idx="4">
                  <c:v>34.06</c:v>
                </c:pt>
                <c:pt idx="5">
                  <c:v>33.119999999999997</c:v>
                </c:pt>
                <c:pt idx="6">
                  <c:v>32.950000000000003</c:v>
                </c:pt>
                <c:pt idx="7">
                  <c:v>34.200000000000003</c:v>
                </c:pt>
                <c:pt idx="8">
                  <c:v>32.49</c:v>
                </c:pt>
                <c:pt idx="9">
                  <c:v>33.28</c:v>
                </c:pt>
                <c:pt idx="10">
                  <c:v>35.909999999999997</c:v>
                </c:pt>
                <c:pt idx="11">
                  <c:v>39.26</c:v>
                </c:pt>
                <c:pt idx="12">
                  <c:v>39.700000000000003</c:v>
                </c:pt>
                <c:pt idx="13">
                  <c:v>40.67</c:v>
                </c:pt>
                <c:pt idx="14">
                  <c:v>38.92</c:v>
                </c:pt>
                <c:pt idx="15">
                  <c:v>39.51</c:v>
                </c:pt>
                <c:pt idx="16">
                  <c:v>39.979999999999997</c:v>
                </c:pt>
                <c:pt idx="17">
                  <c:v>38.119999999999997</c:v>
                </c:pt>
                <c:pt idx="18">
                  <c:v>40.04</c:v>
                </c:pt>
                <c:pt idx="19">
                  <c:v>38.74</c:v>
                </c:pt>
                <c:pt idx="20">
                  <c:v>37.58</c:v>
                </c:pt>
                <c:pt idx="21">
                  <c:v>36.450000000000003</c:v>
                </c:pt>
                <c:pt idx="22">
                  <c:v>37.4</c:v>
                </c:pt>
                <c:pt idx="23">
                  <c:v>35.61</c:v>
                </c:pt>
                <c:pt idx="24">
                  <c:v>36.92</c:v>
                </c:pt>
                <c:pt idx="25">
                  <c:v>37.6</c:v>
                </c:pt>
                <c:pt idx="26">
                  <c:v>38.49</c:v>
                </c:pt>
                <c:pt idx="27">
                  <c:v>40.340000000000003</c:v>
                </c:pt>
                <c:pt idx="28">
                  <c:v>35.57</c:v>
                </c:pt>
                <c:pt idx="29">
                  <c:v>38.04</c:v>
                </c:pt>
                <c:pt idx="30">
                  <c:v>34.83</c:v>
                </c:pt>
                <c:pt idx="31">
                  <c:v>40.380000000000003</c:v>
                </c:pt>
                <c:pt idx="32">
                  <c:v>36.880000000000003</c:v>
                </c:pt>
                <c:pt idx="33">
                  <c:v>38.89</c:v>
                </c:pt>
                <c:pt idx="34">
                  <c:v>41.63</c:v>
                </c:pt>
                <c:pt idx="35">
                  <c:v>42.98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"/>
        <c:axId val="139863936"/>
        <c:axId val="13986547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Avg Gross Profit %</c:v>
                </c:pt>
              </c:strCache>
            </c:strRef>
          </c:tx>
          <c:spPr>
            <a:ln w="31750" cap="flat">
              <a:solidFill>
                <a:srgbClr val="D8595A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D8595A"/>
              </a:solidFill>
              <a:ln w="9525" cap="flat">
                <a:solidFill>
                  <a:srgbClr val="D8595A"/>
                </a:solidFill>
                <a:prstDash val="solid"/>
                <a:round/>
              </a:ln>
              <a:effectLst/>
            </c:spPr>
          </c:marker>
          <c:cat>
            <c:strRef>
              <c:f>Sheet1!$A$2:$A$37</c:f>
              <c:strCache>
                <c:ptCount val="36"/>
                <c:pt idx="0">
                  <c:v>2013-12</c:v>
                </c:pt>
                <c:pt idx="1">
                  <c:v>2014-01</c:v>
                </c:pt>
                <c:pt idx="2">
                  <c:v>2014-02</c:v>
                </c:pt>
                <c:pt idx="3">
                  <c:v>2014-03</c:v>
                </c:pt>
                <c:pt idx="4">
                  <c:v>2014-04</c:v>
                </c:pt>
                <c:pt idx="5">
                  <c:v>2014-05</c:v>
                </c:pt>
                <c:pt idx="6">
                  <c:v>2014-06</c:v>
                </c:pt>
                <c:pt idx="7">
                  <c:v>2014-07</c:v>
                </c:pt>
                <c:pt idx="8">
                  <c:v>2014-08</c:v>
                </c:pt>
                <c:pt idx="9">
                  <c:v>2014-09</c:v>
                </c:pt>
                <c:pt idx="10">
                  <c:v>2014-10</c:v>
                </c:pt>
                <c:pt idx="11">
                  <c:v>2014-11</c:v>
                </c:pt>
                <c:pt idx="12">
                  <c:v>2014-12</c:v>
                </c:pt>
                <c:pt idx="13">
                  <c:v>2015-01</c:v>
                </c:pt>
                <c:pt idx="14">
                  <c:v>2015-02</c:v>
                </c:pt>
                <c:pt idx="15">
                  <c:v>2015-03</c:v>
                </c:pt>
                <c:pt idx="16">
                  <c:v>2015-04</c:v>
                </c:pt>
                <c:pt idx="17">
                  <c:v>2015-05</c:v>
                </c:pt>
                <c:pt idx="18">
                  <c:v>2015-06</c:v>
                </c:pt>
                <c:pt idx="19">
                  <c:v>2015-07</c:v>
                </c:pt>
                <c:pt idx="20">
                  <c:v>2015-08</c:v>
                </c:pt>
                <c:pt idx="21">
                  <c:v>2015-09</c:v>
                </c:pt>
                <c:pt idx="22">
                  <c:v>2015-10</c:v>
                </c:pt>
                <c:pt idx="23">
                  <c:v>2015-11</c:v>
                </c:pt>
                <c:pt idx="24">
                  <c:v>2015-12</c:v>
                </c:pt>
                <c:pt idx="25">
                  <c:v>2016-01</c:v>
                </c:pt>
                <c:pt idx="26">
                  <c:v>2016-02</c:v>
                </c:pt>
                <c:pt idx="27">
                  <c:v>2016-03</c:v>
                </c:pt>
                <c:pt idx="28">
                  <c:v>2016-04</c:v>
                </c:pt>
                <c:pt idx="29">
                  <c:v>2016-05</c:v>
                </c:pt>
                <c:pt idx="30">
                  <c:v>2016-06</c:v>
                </c:pt>
                <c:pt idx="31">
                  <c:v>2016-07</c:v>
                </c:pt>
                <c:pt idx="32">
                  <c:v>2016-08</c:v>
                </c:pt>
                <c:pt idx="33">
                  <c:v>2016-09</c:v>
                </c:pt>
                <c:pt idx="34">
                  <c:v>2016-10</c:v>
                </c:pt>
                <c:pt idx="35">
                  <c:v>2016-11</c:v>
                </c:pt>
              </c:strCache>
            </c:strRef>
          </c:cat>
          <c:val>
            <c:numRef>
              <c:f>Sheet1!$C$2:$C$37</c:f>
              <c:numCache>
                <c:formatCode>General</c:formatCode>
                <c:ptCount val="36"/>
                <c:pt idx="0">
                  <c:v>-2.48</c:v>
                </c:pt>
                <c:pt idx="1">
                  <c:v>1.01</c:v>
                </c:pt>
                <c:pt idx="2">
                  <c:v>-1.55</c:v>
                </c:pt>
                <c:pt idx="3">
                  <c:v>-0.32</c:v>
                </c:pt>
                <c:pt idx="4">
                  <c:v>-0.06</c:v>
                </c:pt>
                <c:pt idx="5">
                  <c:v>-3.3</c:v>
                </c:pt>
                <c:pt idx="6">
                  <c:v>-1.79</c:v>
                </c:pt>
                <c:pt idx="7">
                  <c:v>0.41</c:v>
                </c:pt>
                <c:pt idx="8">
                  <c:v>-4.3099999999999996</c:v>
                </c:pt>
                <c:pt idx="9">
                  <c:v>-3.87</c:v>
                </c:pt>
                <c:pt idx="10">
                  <c:v>1.43</c:v>
                </c:pt>
                <c:pt idx="11">
                  <c:v>5.95</c:v>
                </c:pt>
                <c:pt idx="12">
                  <c:v>-4.3499999999999996</c:v>
                </c:pt>
                <c:pt idx="13">
                  <c:v>-3.28</c:v>
                </c:pt>
                <c:pt idx="14">
                  <c:v>-4.1500000000000004</c:v>
                </c:pt>
                <c:pt idx="15">
                  <c:v>-3.84</c:v>
                </c:pt>
                <c:pt idx="16">
                  <c:v>-2.44</c:v>
                </c:pt>
                <c:pt idx="17">
                  <c:v>-6.68</c:v>
                </c:pt>
                <c:pt idx="18">
                  <c:v>-1.21</c:v>
                </c:pt>
                <c:pt idx="19">
                  <c:v>-3.42</c:v>
                </c:pt>
                <c:pt idx="20">
                  <c:v>-5</c:v>
                </c:pt>
                <c:pt idx="21">
                  <c:v>-2.5499999999999998</c:v>
                </c:pt>
                <c:pt idx="22">
                  <c:v>-2.67</c:v>
                </c:pt>
                <c:pt idx="23">
                  <c:v>-8.1199999999999992</c:v>
                </c:pt>
                <c:pt idx="24">
                  <c:v>-3.82</c:v>
                </c:pt>
                <c:pt idx="25">
                  <c:v>-1.35</c:v>
                </c:pt>
                <c:pt idx="26">
                  <c:v>3.51</c:v>
                </c:pt>
                <c:pt idx="27">
                  <c:v>2.1800000000000002</c:v>
                </c:pt>
                <c:pt idx="28">
                  <c:v>-6.32</c:v>
                </c:pt>
                <c:pt idx="29">
                  <c:v>3.09</c:v>
                </c:pt>
                <c:pt idx="30">
                  <c:v>-4.5599999999999996</c:v>
                </c:pt>
                <c:pt idx="31">
                  <c:v>9.99</c:v>
                </c:pt>
                <c:pt idx="32">
                  <c:v>0.88</c:v>
                </c:pt>
                <c:pt idx="33">
                  <c:v>6.52</c:v>
                </c:pt>
                <c:pt idx="34">
                  <c:v>9.94</c:v>
                </c:pt>
                <c:pt idx="35">
                  <c:v>6.88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885952"/>
        <c:axId val="139884032"/>
      </c:lineChart>
      <c:catAx>
        <c:axId val="1398639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8EF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139865472"/>
        <c:crosses val="autoZero"/>
        <c:auto val="1"/>
        <c:lblAlgn val="ctr"/>
        <c:lblOffset val="100"/>
        <c:noMultiLvlLbl val="1"/>
      </c:catAx>
      <c:valAx>
        <c:axId val="13986547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ZA" sz="1000" b="0" i="0" u="none" strike="noStrike">
                    <a:solidFill>
                      <a:srgbClr val="000000"/>
                    </a:solidFill>
                    <a:latin typeface="Arial"/>
                  </a:rPr>
                  <a:t>Rand / unit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139863936"/>
        <c:crosses val="autoZero"/>
        <c:crossBetween val="between"/>
      </c:valAx>
      <c:valAx>
        <c:axId val="139884032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ZA" sz="1000" b="0" i="0" u="none" strike="noStrike">
                    <a:solidFill>
                      <a:srgbClr val="000000"/>
                    </a:solidFill>
                    <a:latin typeface="Arial"/>
                  </a:rPr>
                  <a:t>Gross Profit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139885952"/>
        <c:crosses val="max"/>
        <c:crossBetween val="between"/>
      </c:valAx>
      <c:catAx>
        <c:axId val="1398859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139884032"/>
        <c:crosses val="autoZero"/>
        <c:auto val="1"/>
        <c:lblAlgn val="ctr"/>
        <c:lblOffset val="100"/>
        <c:noMultiLvlLbl val="1"/>
      </c:cat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391F24-C6D6-489F-87EA-F05607420885}" type="datetimeFigureOut">
              <a:rPr lang="en-ZA" smtClean="0"/>
              <a:t>2026/08/01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544C32-E31B-404F-85F9-37CF6F48105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20213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486400" cy="54864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383280"/>
            <a:ext cx="3840480" cy="3840480"/>
          </a:xfrm>
          <a:prstGeom prst="ellipse">
            <a:avLst/>
          </a:prstGeom>
          <a:solidFill>
            <a:srgbClr val="E8A33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·  CASE </a:t>
            </a:r>
            <a:r>
              <a:rPr lang="en-US" sz="1300" b="1" kern="0" spc="200" dirty="0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</a:t>
            </a:r>
            <a:r>
              <a:rPr lang="en-US" sz="38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</a:t>
            </a: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Promotional Elasticity Analysis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trading analysis of a single retail product — pricing, gross profit,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true impact of promotions on demand.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166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Daily trading data  ·  30 Dec 2013 – 16 Nov 2016  ·  1,053 trading days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things the data tells us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21408" cy="4023360"/>
          </a:xfrm>
          <a:prstGeom prst="roundRect">
            <a:avLst>
              <a:gd name="adj" fmla="val 258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2121408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92024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 smtClean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35.40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3232" y="3108960"/>
            <a:ext cx="17922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unit selling price across the 3-year dataset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93492" y="1600200"/>
            <a:ext cx="2121408" cy="4023360"/>
          </a:xfrm>
          <a:prstGeom prst="roundRect">
            <a:avLst>
              <a:gd name="adj" fmla="val 258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93492" y="1600200"/>
            <a:ext cx="2121408" cy="82296"/>
          </a:xfrm>
          <a:prstGeom prst="rect">
            <a:avLst/>
          </a:prstGeom>
          <a:solidFill>
            <a:srgbClr val="D8595A"/>
          </a:solidFill>
          <a:ln/>
        </p:spPr>
      </p:sp>
      <p:sp>
        <p:nvSpPr>
          <p:cNvPr id="10" name="Text 8"/>
          <p:cNvSpPr/>
          <p:nvPr/>
        </p:nvSpPr>
        <p:spPr>
          <a:xfrm>
            <a:off x="2958084" y="192024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859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-3.8%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958084" y="3108960"/>
            <a:ext cx="17922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gross margin — this product has been sold at a loss on average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38344" y="1600200"/>
            <a:ext cx="2121408" cy="4023360"/>
          </a:xfrm>
          <a:prstGeom prst="roundRect">
            <a:avLst>
              <a:gd name="adj" fmla="val 258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38344" y="1600200"/>
            <a:ext cx="2121408" cy="822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5202936" y="192024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+38.8%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202936" y="3108960"/>
            <a:ext cx="17922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volume uplift on promotion days vs. full price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283196" y="1600200"/>
            <a:ext cx="2121408" cy="4023360"/>
          </a:xfrm>
          <a:prstGeom prst="roundRect">
            <a:avLst>
              <a:gd name="adj" fmla="val 258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83196" y="1600200"/>
            <a:ext cx="2121408" cy="8229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7447788" y="192024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Highly Elastic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447788" y="3108960"/>
            <a:ext cx="17922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reacts strongly to price cuts — every sampled period shows |PED| &gt; 1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528048" y="1600200"/>
            <a:ext cx="2121408" cy="4023360"/>
          </a:xfrm>
          <a:prstGeom prst="roundRect">
            <a:avLst>
              <a:gd name="adj" fmla="val 258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28048" y="1600200"/>
            <a:ext cx="2121408" cy="82296"/>
          </a:xfrm>
          <a:prstGeom prst="rect">
            <a:avLst/>
          </a:prstGeom>
          <a:solidFill>
            <a:srgbClr val="3E8E6E"/>
          </a:solidFill>
          <a:ln/>
        </p:spPr>
      </p:sp>
      <p:sp>
        <p:nvSpPr>
          <p:cNvPr id="22" name="Text 20"/>
          <p:cNvSpPr/>
          <p:nvPr/>
        </p:nvSpPr>
        <p:spPr>
          <a:xfrm>
            <a:off x="9692640" y="192024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E8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692640" y="3108960"/>
            <a:ext cx="17922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year margins finally turned positive again, averaging +2.6%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the promotional strategy is driving strong volume but eroding an already-thin margin. The clearest</a:t>
            </a:r>
            <a:endParaRPr lang="en-US" sz="1250" b="1" dirty="0"/>
          </a:p>
          <a:p>
            <a:pPr marL="0" indent="0">
              <a:buNone/>
            </a:pPr>
            <a:r>
              <a:rPr lang="en-US" sz="125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path to profitability is the pricing discipline seen in H2 2016, not deeper discounting</a:t>
            </a:r>
            <a:r>
              <a:rPr lang="en-US" sz="12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Case Study  |  Data Analyst  |  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&amp; how it was analysed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212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1,053 daily records for one product at a single large retail store (30 Dec 2013 – 16 Nov 2016)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Date, Sales </a:t>
            </a:r>
            <a:r>
              <a:rPr lang="en-US" sz="1350" dirty="0" smtClean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Sales </a:t>
            </a:r>
            <a:r>
              <a:rPr lang="en-US" sz="1350" dirty="0" smtClean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Sold, and a Promotion flag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aggregated per day — no intraday or basket-level detail is available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 days (25%) are flagged as promotional, 788 as full price, 1 undetermined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80760" y="15087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DERIVED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80760" y="1828800"/>
            <a:ext cx="5577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unit sales price = Sales ÷ Quantity Sold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&amp; average % gross profit = (Sales − Cost of Sales) ÷ Sales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per unit, in Rand and as a %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Elasticity of Demand (PED) = %Δ Quantity ÷ %Δ Price, for 3 promotional periods vs. the immediately preceding period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Trend, seasonality, and promotion-vs-full-price comparisons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109960" cy="96012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120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Caveat: Promotions here are short bursts (2–4 days) that frequently land on Thu/Fri. Since weekend demand is naturally higher, raw elasticity figures partly reflect this day-of-week effect and should be read as directional, not precise. This is addressed on slide 8.</a:t>
            </a:r>
            <a:endParaRPr lang="en-US" sz="1200" b="1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Case Study  |  Data Analyst  |  Confidential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1 &amp;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and average unit sales price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÷ Quantity Sold, one figure per trading day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051350254"/>
              </p:ext>
            </p:extLst>
          </p:nvPr>
        </p:nvGraphicFramePr>
        <p:xfrm>
          <a:off x="548640" y="1600200"/>
          <a:ext cx="786384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164592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23960" y="1719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32.61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823960" y="21762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month</a:t>
            </a: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(Dec 2013)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686800" y="2816352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23960" y="28895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42.98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823960" y="33467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month</a:t>
            </a: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(Nov 2016)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686800" y="3986784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23960" y="40599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35.40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823960" y="451713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</a:t>
            </a: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(total sales / total units)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686800" y="5157216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23960" y="5230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+32%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823960" y="56875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increase from</a:t>
            </a: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 end of series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Case Study  |  Data Analyst  |  Confidential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3 &amp;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% gross profit and % gross profit per unit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(Sales − Cost of Sales) ÷ Sales — shown here as a monthly average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600200"/>
          <a:ext cx="786384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164592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23960" y="1719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59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-3.8%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823960" y="21762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gross margin,</a:t>
            </a: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across all sales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686800" y="2816352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23960" y="28895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/ 36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823960" y="33467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where the product</a:t>
            </a: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at a net loss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686800" y="3986784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23960" y="40599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8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+9.99%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823960" y="451713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month on record</a:t>
            </a: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(Jul 2016)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686800" y="5157216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23960" y="5230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59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-8.12%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823960" y="56875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month on record</a:t>
            </a: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(Nov 2015)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Case Study  |  Data Analyst  |  Confidential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5A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elasticity of demand across 3 promotions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 = % change in quantity ÷ % change in price, vs. the period immediately before each promotion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109960" cy="1719072"/>
        </p:xfrm>
        <a:graphic>
          <a:graphicData uri="http://schemas.openxmlformats.org/drawingml/2006/table">
            <a:tbl>
              <a:tblPr/>
              <a:tblGrid>
                <a:gridCol w="3291840"/>
                <a:gridCol w="2606040"/>
                <a:gridCol w="2606040"/>
                <a:gridCol w="1280160"/>
                <a:gridCol w="1325880"/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9-11 Apr 2014 (3 days)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+73.1%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8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-35.0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elastic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23-25 Sep 2015 (3 days)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+468.8%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8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-31.9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elastic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24-27 Nov 2015 (4 days)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+29.4%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8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elastic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703320"/>
            <a:ext cx="11109960" cy="1965960"/>
          </a:xfrm>
          <a:prstGeom prst="roundRect">
            <a:avLst>
              <a:gd name="adj" fmla="val 2791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5" name="Text 4"/>
          <p:cNvSpPr/>
          <p:nvPr/>
        </p:nvSpPr>
        <p:spPr>
          <a:xfrm>
            <a:off x="82296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42062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 every sampled period, |PED| is far greater than 1 — demand is highly price elastic. Small discounts translate into large jumps in units sold.</a:t>
            </a:r>
            <a:endParaRPr lang="en-US" sz="1250" b="1" dirty="0"/>
          </a:p>
          <a:p>
            <a:pPr marL="177800" indent="-1778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This is consistent with a commodity-type, price-sensitive product where shoppers actively switch purchase timing to catch a promotion.</a:t>
            </a:r>
            <a:endParaRPr lang="en-US" sz="1250" b="1" dirty="0"/>
          </a:p>
          <a:p>
            <a:pPr marL="177800" indent="-1778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magnitudes (as high as -35) are inflated because most promotions run Wed-Fri, days that are already busier than average — see slide 8 for the isolated effect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Case Study  |  Data Analyst  |  Confidential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5B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this product perform better on promotion?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3-year comparison: 264 promotional days vs. 788 full-price days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600200"/>
          <a:ext cx="54864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355080" y="160020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37960" y="1728216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+38.8%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75320" y="1691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units sold per day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on promotion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0" y="2679192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37960" y="2807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-3.0%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75320" y="277063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cut needed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drive that uplift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55080" y="3758184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37960" y="3886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59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-2.82%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275320" y="384962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gross margin on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days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355080" y="4837176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37960" y="496519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59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-0.22%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275320" y="4928616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gross margin on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full-price days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355080" y="5961888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19" name="Text 16"/>
          <p:cNvSpPr/>
          <p:nvPr/>
        </p:nvSpPr>
        <p:spPr>
          <a:xfrm>
            <a:off x="6537960" y="6035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Promotions clearly drive volume, but they don't pay for themselves — the product loses more money per Rand of sales while promoted than at full price.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Case Study  |  Data Analyst  |  Confidential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is a weekend story, not a weekday one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quantity sold, by day of week, across all 1,053 days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600200"/>
          <a:ext cx="786384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1600200"/>
            <a:ext cx="2971800" cy="4434840"/>
          </a:xfrm>
          <a:prstGeom prst="roundRect">
            <a:avLst>
              <a:gd name="adj" fmla="val 184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869680" y="2103120"/>
            <a:ext cx="2651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Friday and Saturday sell 60-80% more units than an average weekday — this is the real driver of the volume spikes seen on promo days.</a:t>
            </a:r>
            <a:endParaRPr lang="en-US" sz="1100" b="1" dirty="0"/>
          </a:p>
          <a:p>
            <a:pPr marL="152400" indent="-1524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Because promotions are frequently scheduled Wed-Fri, part of the "promotional lift" reported on slides 6-7 is simply this natural weekend pattern.</a:t>
            </a:r>
            <a:endParaRPr lang="en-US" sz="1100" b="1" dirty="0"/>
          </a:p>
          <a:p>
            <a:pPr marL="152400" indent="-1524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schedule test promotions on slow weekdays (Tue/Wed) to isolate the true promotional effect from day-of-week demand.</a:t>
            </a:r>
            <a:endParaRPr lang="en-US" sz="1100" b="1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Case Study  |  Data Analyst  |  Confidential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discipline in 2016 is quietly fixing the margin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unit price (bars) vs. average monthly gross profit % (line)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600200"/>
          <a:ext cx="111099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Case Study  |  Data Analyst  |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recommend doing next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24365C"/>
          </a:solidFill>
          <a:ln w="12700">
            <a:solidFill>
              <a:srgbClr val="3550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9476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Re-price, don't just re-promote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404872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demand this elastic, even small, well-timed price moves (as seen from mid-2016) move more volume than steep promo discounts — at a much better margin.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24365C"/>
          </a:solidFill>
          <a:ln w="12700">
            <a:solidFill>
              <a:srgbClr val="35507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9659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19476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promo depth vs. cost of sales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404872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promotional weeks post negative gross profit outright. Set a minimum margin floor before a discount is approved.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24365C"/>
          </a:solidFill>
          <a:ln w="12700">
            <a:solidFill>
              <a:srgbClr val="3550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2336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Separate promo effect from weekday effect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690872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future promotions on traditionally slower days (Tue/Wed) to get a clean read on true elasticity, not one inflated by weekend footfall.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9776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24365C"/>
          </a:solidFill>
          <a:ln w="12700">
            <a:solidFill>
              <a:srgbClr val="35507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42519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42336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the 2016 pricing gains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4690872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profitable months in the dataset are also the highest-priced ones — hold the line on price rather than reverting to 2014/2015 levels.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Case Study  |  Data Analyst  | 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1159</Words>
  <Application>Microsoft Office PowerPoint</Application>
  <PresentationFormat>Custom</PresentationFormat>
  <Paragraphs>167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Phathutshedzo Mpfumali</cp:lastModifiedBy>
  <cp:revision>2</cp:revision>
  <dcterms:created xsi:type="dcterms:W3CDTF">2026-08-01T15:46:36Z</dcterms:created>
  <dcterms:modified xsi:type="dcterms:W3CDTF">2026-08-01T17:00:59Z</dcterms:modified>
</cp:coreProperties>
</file>